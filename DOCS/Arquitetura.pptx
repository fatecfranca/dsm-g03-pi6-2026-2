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4"/>
  </p:notesMasterIdLst>
  <p:sldIdLst>
    <p:sldId id="257" r:id="rId2"/>
    <p:sldId id="258" r:id="rId3"/>
  </p:sldIdLst>
  <p:sldSz cx="9144000" cy="5143500" type="screen16x9"/>
  <p:notesSz cx="6858000" cy="9144000"/>
  <p:embeddedFontLst>
    <p:embeddedFont>
      <p:font typeface="Hanken Grotesk" panose="020B0604020202020204" charset="0"/>
      <p:regular r:id="rId5"/>
      <p:bold r:id="rId6"/>
      <p:italic r:id="rId7"/>
      <p:boldItalic r:id="rId8"/>
    </p:embeddedFont>
    <p:embeddedFont>
      <p:font typeface="Raleway Black" pitchFamily="2" charset="0"/>
      <p:bold r:id="rId9"/>
      <p:boldItalic r:id="rId10"/>
    </p:embeddedFont>
    <p:embeddedFont>
      <p:font typeface="Raleway ExtraBold" pitchFamily="2" charset="0"/>
      <p:bold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EB2E4F-7A3A-4F98-9E85-8E1151A5051B}">
  <a:tblStyle styleId="{95EB2E4F-7A3A-4F98-9E85-8E1151A505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BA98095-A400-4641-BFCE-CC896B55FFC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48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5590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  <p:sldLayoutId id="2147483658" r:id="rId5"/>
    <p:sldLayoutId id="2147483669" r:id="rId6"/>
    <p:sldLayoutId id="2147483670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Arquitetura do Sistema</a:t>
            </a:r>
            <a:endParaRPr dirty="0"/>
          </a:p>
        </p:txBody>
      </p:sp>
      <p:graphicFrame>
        <p:nvGraphicFramePr>
          <p:cNvPr id="701" name="Google Shape;701;p29"/>
          <p:cNvGraphicFramePr/>
          <p:nvPr>
            <p:extLst>
              <p:ext uri="{D42A27DB-BD31-4B8C-83A1-F6EECF244321}">
                <p14:modId xmlns:p14="http://schemas.microsoft.com/office/powerpoint/2010/main" val="1856681683"/>
              </p:ext>
            </p:extLst>
          </p:nvPr>
        </p:nvGraphicFramePr>
        <p:xfrm>
          <a:off x="1145605" y="1143030"/>
          <a:ext cx="4690752" cy="3560684"/>
        </p:xfrm>
        <a:graphic>
          <a:graphicData uri="http://schemas.openxmlformats.org/drawingml/2006/table">
            <a:tbl>
              <a:tblPr>
                <a:noFill/>
                <a:tableStyleId>{95EB2E4F-7A3A-4F98-9E85-8E1151A5051B}</a:tableStyleId>
              </a:tblPr>
              <a:tblGrid>
                <a:gridCol w="2345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5376">
                  <a:extLst>
                    <a:ext uri="{9D8B030D-6E8A-4147-A177-3AD203B41FA5}">
                      <a16:colId xmlns:a16="http://schemas.microsoft.com/office/drawing/2014/main" val="3521436763"/>
                    </a:ext>
                  </a:extLst>
                </a:gridCol>
              </a:tblGrid>
              <a:tr h="350406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sng" dirty="0" err="1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Frontend</a:t>
                      </a:r>
                      <a:endParaRPr sz="900" u="sng" dirty="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62051"/>
                  </a:ext>
                </a:extLst>
              </a:tr>
              <a:tr h="43696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sng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Mobile (Visão Cidadão e Técnico)</a:t>
                      </a:r>
                      <a:endParaRPr sz="1000" u="sng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sng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Web (Visão Gestores e Administrador Sistema)</a:t>
                      </a:r>
                      <a:endParaRPr sz="1000" u="sng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322170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 err="1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Flutter</a:t>
                      </a: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/Dart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Next.js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857124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Validação de credenciais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Validação de credenciais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0260"/>
                  </a:ext>
                </a:extLst>
              </a:tr>
              <a:tr h="46194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Telas especificas para cidadãos e técnicos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Páginas separadas para gestores e administrador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970858"/>
                  </a:ext>
                </a:extLst>
              </a:tr>
              <a:tr h="86549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(Cidadão)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Abertura e acompanhamento de chamados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(Gestores)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Gerenciamento de todos os recursos relacionados as tratativas com chamados da unidade e gerenciamento dos chamados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686121"/>
                  </a:ext>
                </a:extLst>
              </a:tr>
              <a:tr h="7450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(Técnico)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Registro de atividades e conclusão do chamado</a:t>
                      </a: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(Administrador Sistema)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Gerenciamento dos gestores administradores, unidades e tipos de chamados</a:t>
                      </a: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1188994"/>
                  </a:ext>
                </a:extLst>
              </a:tr>
            </a:tbl>
          </a:graphicData>
        </a:graphic>
      </p:graphicFrame>
      <p:graphicFrame>
        <p:nvGraphicFramePr>
          <p:cNvPr id="2" name="Google Shape;701;p29">
            <a:extLst>
              <a:ext uri="{FF2B5EF4-FFF2-40B4-BE49-F238E27FC236}">
                <a16:creationId xmlns:a16="http://schemas.microsoft.com/office/drawing/2014/main" id="{D2E59E62-C12C-F177-3265-22A2C7DFBD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8001066"/>
              </p:ext>
            </p:extLst>
          </p:nvPr>
        </p:nvGraphicFramePr>
        <p:xfrm>
          <a:off x="6016978" y="1143030"/>
          <a:ext cx="2525339" cy="1961414"/>
        </p:xfrm>
        <a:graphic>
          <a:graphicData uri="http://schemas.openxmlformats.org/drawingml/2006/table">
            <a:tbl>
              <a:tblPr>
                <a:noFill/>
                <a:tableStyleId>{95EB2E4F-7A3A-4F98-9E85-8E1151A5051B}</a:tableStyleId>
              </a:tblPr>
              <a:tblGrid>
                <a:gridCol w="2525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sng" dirty="0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Mensageria</a:t>
                      </a:r>
                      <a:endParaRPr sz="900" u="sng" dirty="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2051"/>
                  </a:ext>
                </a:extLst>
              </a:tr>
              <a:tr h="61758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Utilizada para chamadas da API a execuções dos modelos de PLN, IA e Mineração de Dados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322170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 err="1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RabbitMQ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244815"/>
                  </a:ext>
                </a:extLst>
              </a:tr>
              <a:tr h="64301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Hospedado na mesma VM onde se hospedará a API, WEB e modelos de classificação e mineração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491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Arquitetura do Sistema</a:t>
            </a:r>
            <a:endParaRPr dirty="0"/>
          </a:p>
        </p:txBody>
      </p:sp>
      <p:graphicFrame>
        <p:nvGraphicFramePr>
          <p:cNvPr id="701" name="Google Shape;701;p29"/>
          <p:cNvGraphicFramePr/>
          <p:nvPr>
            <p:extLst>
              <p:ext uri="{D42A27DB-BD31-4B8C-83A1-F6EECF244321}">
                <p14:modId xmlns:p14="http://schemas.microsoft.com/office/powerpoint/2010/main" val="3444886624"/>
              </p:ext>
            </p:extLst>
          </p:nvPr>
        </p:nvGraphicFramePr>
        <p:xfrm>
          <a:off x="528087" y="1345329"/>
          <a:ext cx="2466838" cy="2452842"/>
        </p:xfrm>
        <a:graphic>
          <a:graphicData uri="http://schemas.openxmlformats.org/drawingml/2006/table">
            <a:tbl>
              <a:tblPr>
                <a:noFill/>
                <a:tableStyleId>{95EB2E4F-7A3A-4F98-9E85-8E1151A5051B}</a:tableStyleId>
              </a:tblPr>
              <a:tblGrid>
                <a:gridCol w="2466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sng" dirty="0" err="1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Backend</a:t>
                      </a:r>
                      <a:endParaRPr sz="900" u="sng" dirty="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2051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API REST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322170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Node.js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244815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Estrutura de </a:t>
                      </a:r>
                      <a:r>
                        <a:rPr lang="pt-BR" sz="1000" u="none" dirty="0" err="1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Controller</a:t>
                      </a: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 e </a:t>
                      </a:r>
                      <a:r>
                        <a:rPr lang="pt-BR" sz="1000" u="none" dirty="0" err="1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Routes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49118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Regras de negócio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738675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Comunicação com o Banco de Dados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86844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Integração com mensageria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01357"/>
                  </a:ext>
                </a:extLst>
              </a:tr>
            </a:tbl>
          </a:graphicData>
        </a:graphic>
      </p:graphicFrame>
      <p:graphicFrame>
        <p:nvGraphicFramePr>
          <p:cNvPr id="2" name="Google Shape;701;p29">
            <a:extLst>
              <a:ext uri="{FF2B5EF4-FFF2-40B4-BE49-F238E27FC236}">
                <a16:creationId xmlns:a16="http://schemas.microsoft.com/office/drawing/2014/main" id="{A6D82477-050A-9A62-E5EA-48CA984C4B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956499"/>
              </p:ext>
            </p:extLst>
          </p:nvPr>
        </p:nvGraphicFramePr>
        <p:xfrm>
          <a:off x="3194756" y="1345329"/>
          <a:ext cx="2525339" cy="2470315"/>
        </p:xfrm>
        <a:graphic>
          <a:graphicData uri="http://schemas.openxmlformats.org/drawingml/2006/table">
            <a:tbl>
              <a:tblPr>
                <a:noFill/>
                <a:tableStyleId>{95EB2E4F-7A3A-4F98-9E85-8E1151A5051B}</a:tableStyleId>
              </a:tblPr>
              <a:tblGrid>
                <a:gridCol w="2525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sng" dirty="0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Banco de Dados</a:t>
                      </a:r>
                      <a:endParaRPr sz="900" u="sng" dirty="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2051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Banco de Dados Relacional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322170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PostgreSQL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244815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Armazena todos os dados da aplicação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49118"/>
                  </a:ext>
                </a:extLst>
              </a:tr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Armazena históricos e logs da aplicação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738675"/>
                  </a:ext>
                </a:extLst>
              </a:tr>
              <a:tr h="71828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Realiza comunicação tanto com a API como com os modelos de IA para registros e alterações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586844"/>
                  </a:ext>
                </a:extLst>
              </a:tr>
            </a:tbl>
          </a:graphicData>
        </a:graphic>
      </p:graphicFrame>
      <p:graphicFrame>
        <p:nvGraphicFramePr>
          <p:cNvPr id="3" name="Google Shape;701;p29">
            <a:extLst>
              <a:ext uri="{FF2B5EF4-FFF2-40B4-BE49-F238E27FC236}">
                <a16:creationId xmlns:a16="http://schemas.microsoft.com/office/drawing/2014/main" id="{52F50D94-6899-C5B7-93B9-803A7E8377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427566"/>
              </p:ext>
            </p:extLst>
          </p:nvPr>
        </p:nvGraphicFramePr>
        <p:xfrm>
          <a:off x="5919926" y="1358569"/>
          <a:ext cx="2631488" cy="2109071"/>
        </p:xfrm>
        <a:graphic>
          <a:graphicData uri="http://schemas.openxmlformats.org/drawingml/2006/table">
            <a:tbl>
              <a:tblPr>
                <a:noFill/>
                <a:tableStyleId>{95EB2E4F-7A3A-4F98-9E85-8E1151A5051B}</a:tableStyleId>
              </a:tblPr>
              <a:tblGrid>
                <a:gridCol w="2631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040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u="sng" dirty="0">
                          <a:solidFill>
                            <a:schemeClr val="dk1"/>
                          </a:solidFill>
                          <a:latin typeface="Raleway ExtraBold"/>
                          <a:ea typeface="Raleway ExtraBold"/>
                          <a:cs typeface="Raleway ExtraBold"/>
                          <a:sym typeface="Raleway ExtraBold"/>
                        </a:rPr>
                        <a:t>Inteligência (IA / PLN /Mineração de Dados</a:t>
                      </a:r>
                      <a:endParaRPr sz="900" u="sng" dirty="0">
                        <a:solidFill>
                          <a:schemeClr val="dk1"/>
                        </a:solidFill>
                        <a:latin typeface="Raleway ExtraBold"/>
                        <a:ea typeface="Raleway ExtraBold"/>
                        <a:cs typeface="Raleway ExtraBold"/>
                        <a:sym typeface="Raleway ExtraBo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62051"/>
                  </a:ext>
                </a:extLst>
              </a:tr>
              <a:tr h="78782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(PLN - Python)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Para mapeamento de informações base do chamado conforme descrição usadas na classificação de urgência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322170"/>
                  </a:ext>
                </a:extLst>
              </a:tr>
              <a:tr h="474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(IA - CART)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Para classificação de urgência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244815"/>
                  </a:ext>
                </a:extLst>
              </a:tr>
              <a:tr h="49671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(Mineração de dados)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u="none" dirty="0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Agrupamento/</a:t>
                      </a:r>
                      <a:r>
                        <a:rPr lang="pt-BR" sz="1000" u="none" dirty="0" err="1">
                          <a:solidFill>
                            <a:schemeClr val="dk1"/>
                          </a:solidFill>
                          <a:latin typeface="Hanken Grotesk"/>
                          <a:sym typeface="Hanken Grotesk"/>
                        </a:rPr>
                        <a:t>Clustering</a:t>
                      </a:r>
                      <a:endParaRPr sz="1000" u="none" dirty="0">
                        <a:solidFill>
                          <a:schemeClr val="dk1"/>
                        </a:solidFill>
                        <a:latin typeface="Hanken Grotesk"/>
                        <a:sym typeface="Hanken Grotesk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  <a:lumOff val="10000"/>
                        <a:alpha val="75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949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327230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237</Words>
  <Application>Microsoft Office PowerPoint</Application>
  <PresentationFormat>Apresentação na tela (16:9)</PresentationFormat>
  <Paragraphs>43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7" baseType="lpstr">
      <vt:lpstr>Raleway ExtraBold</vt:lpstr>
      <vt:lpstr>Hanken Grotesk</vt:lpstr>
      <vt:lpstr>Raleway Black</vt:lpstr>
      <vt:lpstr>Arial</vt:lpstr>
      <vt:lpstr>Technology Market Research Pitch Deck by Slidesgo</vt:lpstr>
      <vt:lpstr>Arquitetura do Sistema</vt:lpstr>
      <vt:lpstr>Arquitetura do Sistema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Luís Pedro Dutra Carrocini</cp:lastModifiedBy>
  <cp:revision>8</cp:revision>
  <dcterms:modified xsi:type="dcterms:W3CDTF">2026-08-21T00:47:07Z</dcterms:modified>
</cp:coreProperties>
</file>